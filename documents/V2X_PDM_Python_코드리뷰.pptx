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58" r:id="rId3"/>
    <p:sldId id="259" r:id="rId4"/>
    <p:sldId id="261" r:id="rId5"/>
    <p:sldId id="262" r:id="rId6"/>
    <p:sldId id="264" r:id="rId7"/>
    <p:sldId id="265" r:id="rId8"/>
    <p:sldId id="266" r:id="rId9"/>
    <p:sldId id="267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7621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파일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py/ 폴더 — 역할별 모듈 분리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3566160" cy="365760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618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py/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57200" y="159105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project_paths.py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sensor_data_config.py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57200" y="224942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sensor_collector.py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57200" y="257860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generate_sensor_data_bulk.py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57200" y="290779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generate_sensor_data_train.py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57200" y="3236976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generate_sensor_data_test.py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3566160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anomaly_detect.py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57200" y="3895344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lstm_infer.py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57200" y="4224528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v2x_realtime_server.py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069080" y="114300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069080" y="114300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78808" y="1197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project_paths.py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78808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상수 중앙 관리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0" y="114300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0" y="1143000"/>
            <a:ext cx="45720" cy="749808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93408" y="119786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sensor_data_config.py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93408" y="150876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컬럼·피처·하이퍼파라미터 상수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069080" y="201168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069080" y="2011680"/>
            <a:ext cx="45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78808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sensor_collector.py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178808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대화형 실시간 데이터 수집기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583680" y="201168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83680" y="2011680"/>
            <a:ext cx="457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93408" y="20665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generate_sensor_data_bulk.py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693408" y="237744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기반 대량 배치 생성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069080" y="288036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069080" y="2880360"/>
            <a:ext cx="45720" cy="749808"/>
          </a:xfrm>
          <a:prstGeom prst="rect">
            <a:avLst/>
          </a:prstGeom>
          <a:solidFill>
            <a:srgbClr val="D0D8E8"/>
          </a:solidFill>
          <a:ln w="12700">
            <a:solidFill>
              <a:srgbClr val="D0D8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78808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0D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generate_sensor_data_train/test.py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178808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학습/테스트 CSV 생성 래퍼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583680" y="288036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83680" y="2880360"/>
            <a:ext cx="45720" cy="74980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93408" y="293522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anomaly_detect.py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693408" y="32461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학습 + 이상탐지 평가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069080" y="374904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069080" y="3749040"/>
            <a:ext cx="45720" cy="74980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78808" y="3803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lstm_infer.py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4178808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학습된 모델 실시간 추론 엔진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583680" y="3749040"/>
            <a:ext cx="2377440" cy="74980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83680" y="3749040"/>
            <a:ext cx="45720" cy="749808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3408" y="38039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v2x_realtime_server.py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693408" y="41148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 인입 + 위험도 분석 서버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공통 기반 모듈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project_paths.py   ·   sensor_data_config.py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4069080" cy="36576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4069080" cy="347472"/>
          </a:xfrm>
          <a:prstGeom prst="rect">
            <a:avLst/>
          </a:prstGeom>
          <a:solidFill>
            <a:srgbClr val="E86C45">
              <a:alpha val="30000"/>
            </a:srgbClr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16152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project_paths.py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627632"/>
            <a:ext cx="3840480" cy="128016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66420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PROJECT_ROOT = Path(__file__).parent.parent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502920" y="1812341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DATA_DIR   = PROJECT_ROOT / 'data'</a:t>
            </a:r>
            <a:endParaRPr lang="en-US" sz="780" dirty="0"/>
          </a:p>
        </p:txBody>
      </p:sp>
      <p:sp>
        <p:nvSpPr>
          <p:cNvPr id="11" name="Text 9"/>
          <p:cNvSpPr/>
          <p:nvPr/>
        </p:nvSpPr>
        <p:spPr>
          <a:xfrm>
            <a:off x="502920" y="1960474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MODELS_DIR = PROJECT_ROOT / 'models'</a:t>
            </a:r>
            <a:endParaRPr lang="en-US" sz="780" dirty="0"/>
          </a:p>
        </p:txBody>
      </p:sp>
      <p:sp>
        <p:nvSpPr>
          <p:cNvPr id="12" name="Text 10"/>
          <p:cNvSpPr/>
          <p:nvPr/>
        </p:nvSpPr>
        <p:spPr>
          <a:xfrm>
            <a:off x="502920" y="2108606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OUTPUT_DIR = PROJECT_ROOT / 'output'</a:t>
            </a:r>
            <a:endParaRPr lang="en-US" sz="780" dirty="0"/>
          </a:p>
        </p:txBody>
      </p:sp>
      <p:sp>
        <p:nvSpPr>
          <p:cNvPr id="13" name="Text 11"/>
          <p:cNvSpPr/>
          <p:nvPr/>
        </p:nvSpPr>
        <p:spPr>
          <a:xfrm>
            <a:off x="502920" y="2404872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DATA_CSV_TRAIN = DATA_DIR / 'sensor_train.csv'</a:t>
            </a:r>
            <a:endParaRPr lang="en-US" sz="780" dirty="0"/>
          </a:p>
        </p:txBody>
      </p:sp>
      <p:sp>
        <p:nvSpPr>
          <p:cNvPr id="14" name="Text 12"/>
          <p:cNvSpPr/>
          <p:nvPr/>
        </p:nvSpPr>
        <p:spPr>
          <a:xfrm>
            <a:off x="502920" y="2553005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MODEL_PKL      = MODELS_DIR / 'anomaly_model.pkl'</a:t>
            </a:r>
            <a:endParaRPr lang="en-US" sz="780" dirty="0"/>
          </a:p>
        </p:txBody>
      </p:sp>
      <p:sp>
        <p:nvSpPr>
          <p:cNvPr id="15" name="Text 13"/>
          <p:cNvSpPr/>
          <p:nvPr/>
        </p:nvSpPr>
        <p:spPr>
          <a:xfrm>
            <a:off x="502920" y="270113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MODEL_KERAS    = MODELS_DIR / 'anomaly_model.keras'</a:t>
            </a:r>
            <a:endParaRPr lang="en-US" sz="780" dirty="0"/>
          </a:p>
        </p:txBody>
      </p:sp>
      <p:sp>
        <p:nvSpPr>
          <p:cNvPr id="16" name="Text 14"/>
          <p:cNvSpPr/>
          <p:nvPr/>
        </p:nvSpPr>
        <p:spPr>
          <a:xfrm>
            <a:off x="457200" y="303580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3035808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모든 파일에서 공통으로 import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1985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49808" y="3419856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경로 변경 시 이 파일만 수정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3803904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3803904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ensure_dirs() — 기동 시 폴더 자동 생성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187952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4187952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resolve() — 상대경로를 루트 기준으로 변환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1188720"/>
            <a:ext cx="4206240" cy="36576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17720" y="1188720"/>
            <a:ext cx="4206240" cy="347472"/>
          </a:xfrm>
          <a:prstGeom prst="rect">
            <a:avLst/>
          </a:prstGeom>
          <a:solidFill>
            <a:srgbClr val="4ECDC4">
              <a:alpha val="30000"/>
            </a:srgbClr>
          </a:solidFill>
          <a:ln w="12700">
            <a:solidFill>
              <a:srgbClr val="1A20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1216152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sensor_data_config.py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1627632"/>
            <a:ext cx="3977640" cy="141732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73168" y="166420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COL_RESPONSE_TIME_MS = 'response_time_ms'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4773168" y="183337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COL_CPU_TEMP         = 'cpu_temp'</a:t>
            </a:r>
            <a:endParaRPr lang="en-US" sz="780" dirty="0"/>
          </a:p>
        </p:txBody>
      </p:sp>
      <p:sp>
        <p:nvSpPr>
          <p:cNvPr id="30" name="Text 28"/>
          <p:cNvSpPr/>
          <p:nvPr/>
        </p:nvSpPr>
        <p:spPr>
          <a:xfrm>
            <a:off x="4773168" y="200253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총 14개 컬럼명 상수</a:t>
            </a:r>
            <a:endParaRPr lang="en-US" sz="780" dirty="0"/>
          </a:p>
        </p:txBody>
      </p:sp>
      <p:sp>
        <p:nvSpPr>
          <p:cNvPr id="31" name="Text 29"/>
          <p:cNvSpPr/>
          <p:nvPr/>
        </p:nvSpPr>
        <p:spPr>
          <a:xfrm>
            <a:off x="4773168" y="2340864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FEATURE_COLS = (             # 9개 모델 입력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4773168" y="2510028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'response_time_ms', 'error_count',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4773168" y="2679192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'reboot_count', 'cpu_temp', ...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4773168" y="2848356"/>
            <a:ext cx="38221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4709160" y="3419856"/>
            <a:ext cx="3977640" cy="347472"/>
          </a:xfrm>
          <a:prstGeom prst="rect">
            <a:avLst/>
          </a:prstGeom>
          <a:solidFill>
            <a:srgbClr val="1E2A44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00600" y="344728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COL_* 상수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236208" y="344728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문자열 오타 방지 · 리팩터링 용이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09160" y="3840480"/>
            <a:ext cx="3977640" cy="347472"/>
          </a:xfrm>
          <a:prstGeom prst="rect">
            <a:avLst/>
          </a:prstGeom>
          <a:solidFill>
            <a:srgbClr val="1E2A44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8679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FEATURE_COLS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36208" y="38679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9개 — 모델 입력 순서 고정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09160" y="4261104"/>
            <a:ext cx="3977640" cy="347472"/>
          </a:xfrm>
          <a:prstGeom prst="rect">
            <a:avLst/>
          </a:prstGeom>
          <a:solidFill>
            <a:srgbClr val="1E2A44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00600" y="4288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비율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236208" y="428853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 5% / 주의 15% / 정상 80%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생성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sensor_collector.py — health 기반 장비 상태 시뮬레이션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8503920" cy="1188720"/>
          </a:xfrm>
          <a:prstGeom prst="rect">
            <a:avLst/>
          </a:prstGeom>
          <a:solidFill>
            <a:srgbClr val="0D1420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장비 Health 상태 흐름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920240" cy="594360"/>
          </a:xfrm>
          <a:prstGeom prst="rect">
            <a:avLst/>
          </a:prstGeom>
          <a:solidFill>
            <a:srgbClr val="4CAF82">
              <a:alpha val="25000"/>
            </a:srgbClr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정상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&lt; 0.55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697480" y="1554480"/>
            <a:ext cx="1920240" cy="594360"/>
          </a:xfrm>
          <a:prstGeom prst="rect">
            <a:avLst/>
          </a:prstGeom>
          <a:solidFill>
            <a:srgbClr val="F5C842">
              <a:alpha val="25000"/>
            </a:srgbClr>
          </a:solidFill>
          <a:ln w="19050">
            <a:solidFill>
              <a:srgbClr val="F5C8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주의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0.55 ~ 0.84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846320" y="1554480"/>
            <a:ext cx="1920240" cy="594360"/>
          </a:xfrm>
          <a:prstGeom prst="rect">
            <a:avLst/>
          </a:prstGeom>
          <a:solidFill>
            <a:srgbClr val="E85555">
              <a:alpha val="25000"/>
            </a:srgbClr>
          </a:solidFill>
          <a:ln w="19050">
            <a:solidFill>
              <a:srgbClr val="E855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4632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≥ 0.85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995160" y="1554480"/>
            <a:ext cx="1920240" cy="594360"/>
          </a:xfrm>
          <a:prstGeom prst="rect">
            <a:avLst/>
          </a:prstGeom>
          <a:solidFill>
            <a:srgbClr val="E86C45">
              <a:alpha val="25000"/>
            </a:srgbClr>
          </a:solidFill>
          <a:ln w="19050">
            <a:solidFill>
              <a:srgbClr val="E86C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95160" y="15910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고장 이벤트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95160" y="182880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 확률 발생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468880" y="1851660"/>
            <a:ext cx="228600" cy="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96312" y="1792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1851660"/>
            <a:ext cx="228600" cy="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45152" y="1792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766560" y="1851660"/>
            <a:ext cx="228600" cy="0"/>
          </a:xfrm>
          <a:prstGeom prst="line">
            <a:avLst/>
          </a:prstGeom>
          <a:noFill/>
          <a:ln w="19050">
            <a:solidFill>
              <a:srgbClr val="6B7A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93992" y="17922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514600"/>
          <a:ext cx="8458200" cy="153619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 / severity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응답시간 (ms)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 온도 (℃)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오류 횟수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SPaT 실패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통신 실패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4CA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  (&lt; 0.55)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~44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~41 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~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~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~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5C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  (0.55~0.84)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~98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~58 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~ 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~ 25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~ 18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121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E8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 (≥ 0.85)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~188 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~73 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~ 45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~ 80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D0D8E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 ~ 70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0F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6" name="Text 23"/>
          <p:cNvSpPr/>
          <p:nvPr/>
        </p:nvSpPr>
        <p:spPr>
          <a:xfrm>
            <a:off x="320040" y="420624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cooldown: 고장 이벤트 후 8~18 샘플 동안 health 자동 회복  |  failure_event=1 → 예지보전 라벨로 활용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학습 파이프라인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anomaly_detect.py — CSV → 학습 → 저장까지의 전체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9319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2221992"/>
            <a:ext cx="1115568" cy="256032"/>
          </a:xfrm>
          <a:prstGeom prst="rect">
            <a:avLst/>
          </a:prstGeom>
          <a:solidFill>
            <a:srgbClr val="4ECDC4">
              <a:alpha val="3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9319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9319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로드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9319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load_sensor_csv()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39319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 컬럼 검증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51790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8191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912" y="2221992"/>
            <a:ext cx="1115568" cy="256032"/>
          </a:xfrm>
          <a:prstGeom prst="rect">
            <a:avLst/>
          </a:prstGeom>
          <a:solidFill>
            <a:srgbClr val="4ECDC4">
              <a:alpha val="35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8191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58191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시간 순 분할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8191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train 60%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158191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20% / test 20%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70662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7063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70632" y="2221992"/>
            <a:ext cx="1115568" cy="256032"/>
          </a:xfrm>
          <a:prstGeom prst="rect">
            <a:avLst/>
          </a:prstGeom>
          <a:solidFill>
            <a:srgbClr val="F5C842">
              <a:alpha val="3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7063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77063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스케일러 피팅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77063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정상 데이터만으로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277063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MinMaxScaler.fit()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389534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95935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59352" y="2221992"/>
            <a:ext cx="1115568" cy="256032"/>
          </a:xfrm>
          <a:prstGeom prst="rect">
            <a:avLst/>
          </a:prstGeom>
          <a:solidFill>
            <a:srgbClr val="F5C842">
              <a:alpha val="35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5935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95935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슬라이딩 윈도우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5935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WINDOW_SIZE=12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5935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디바이스별 생성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08406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14807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48072" y="2221992"/>
            <a:ext cx="1115568" cy="256032"/>
          </a:xfrm>
          <a:prstGeom prst="rect">
            <a:avLst/>
          </a:prstGeom>
          <a:solidFill>
            <a:srgbClr val="E86C45">
              <a:alpha val="35000"/>
            </a:srgbClr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4807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14807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학습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4807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build_lstm()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14807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EarlyStopping(patience=8)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27278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33679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6792" y="2221992"/>
            <a:ext cx="1115568" cy="256032"/>
          </a:xfrm>
          <a:prstGeom prst="rect">
            <a:avLst/>
          </a:prstGeom>
          <a:solidFill>
            <a:srgbClr val="E86C45">
              <a:alpha val="35000"/>
            </a:srgbClr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679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33679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튜닝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33679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 점수 500개 그리드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33679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재현율 우선 최적화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7461504" y="2724912"/>
            <a:ext cx="91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525512" y="2221992"/>
            <a:ext cx="1115568" cy="12801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525512" y="2221992"/>
            <a:ext cx="1115568" cy="256032"/>
          </a:xfrm>
          <a:prstGeom prst="rect">
            <a:avLst/>
          </a:prstGeom>
          <a:solidFill>
            <a:srgbClr val="4CAF82">
              <a:alpha val="35000"/>
            </a:srgbClr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25512" y="2231136"/>
            <a:ext cx="11155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7525512" y="2542032"/>
            <a:ext cx="11155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저장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7525512" y="289864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anomaly_model.pkl</a:t>
            </a:r>
            <a:endParaRPr lang="en-US" sz="750" dirty="0"/>
          </a:p>
        </p:txBody>
      </p:sp>
      <p:sp>
        <p:nvSpPr>
          <p:cNvPr id="52" name="Text 50"/>
          <p:cNvSpPr/>
          <p:nvPr/>
        </p:nvSpPr>
        <p:spPr>
          <a:xfrm>
            <a:off x="7525512" y="3172968"/>
            <a:ext cx="1115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anoamaly_model.keras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모델 구조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anomaly_detect.py  build_lstm()  —  입력 (12 × 9) → 출력 이상 확률 (0~1)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097280" cy="822960"/>
          </a:xfrm>
          <a:prstGeom prst="rect">
            <a:avLst/>
          </a:prstGeom>
          <a:solidFill>
            <a:srgbClr val="6B7A99">
              <a:alpha val="30000"/>
            </a:srgbClr>
          </a:solidFill>
          <a:ln w="19050">
            <a:solidFill>
              <a:srgbClr val="6B7A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(12, 9)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274320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 × FEATURES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389888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81328" y="1143000"/>
            <a:ext cx="1097280" cy="822960"/>
          </a:xfrm>
          <a:prstGeom prst="rect">
            <a:avLst/>
          </a:prstGeom>
          <a:solidFill>
            <a:srgbClr val="E86C45">
              <a:alpha val="30000"/>
            </a:srgbClr>
          </a:solidFill>
          <a:ln w="19050">
            <a:solidFill>
              <a:srgbClr val="E86C4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81328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LSTM(64)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481328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return_sequences=True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481328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시퀀스 전체 출력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2596896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88336" y="1234440"/>
            <a:ext cx="1097280" cy="640080"/>
          </a:xfrm>
          <a:prstGeom prst="rect">
            <a:avLst/>
          </a:prstGeom>
          <a:solidFill>
            <a:srgbClr val="4A5568">
              <a:alpha val="70000"/>
            </a:srgbClr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688336" y="1307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688336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0.2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3803904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895344" y="1143000"/>
            <a:ext cx="1097280" cy="822960"/>
          </a:xfrm>
          <a:prstGeom prst="rect">
            <a:avLst/>
          </a:prstGeom>
          <a:solidFill>
            <a:srgbClr val="E86C45">
              <a:alpha val="30000"/>
            </a:srgbClr>
          </a:solidFill>
          <a:ln w="19050">
            <a:solidFill>
              <a:srgbClr val="E86C4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LSTM(32)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895344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return_sequences=False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895344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마지막 타임스텝만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010912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02352" y="1234440"/>
            <a:ext cx="1097280" cy="640080"/>
          </a:xfrm>
          <a:prstGeom prst="rect">
            <a:avLst/>
          </a:prstGeom>
          <a:solidFill>
            <a:srgbClr val="4A5568">
              <a:alpha val="70000"/>
            </a:srgbClr>
          </a:solidFill>
          <a:ln w="19050">
            <a:solidFill>
              <a:srgbClr val="4A55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02352" y="130759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Dropout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102352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rate = 0.2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217920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1143000"/>
            <a:ext cx="1097280" cy="822960"/>
          </a:xfrm>
          <a:prstGeom prst="rect">
            <a:avLst/>
          </a:prstGeom>
          <a:solidFill>
            <a:srgbClr val="4ECDC4">
              <a:alpha val="30000"/>
            </a:srgbClr>
          </a:solidFill>
          <a:ln w="19050">
            <a:solidFill>
              <a:srgbClr val="4ECDC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09360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Dense(32)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309360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activation=relu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309360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비선형 특징 추출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7424928" y="1399032"/>
            <a:ext cx="91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7516368" y="1143000"/>
            <a:ext cx="1097280" cy="822960"/>
          </a:xfrm>
          <a:prstGeom prst="rect">
            <a:avLst/>
          </a:prstGeom>
          <a:solidFill>
            <a:srgbClr val="4CAF82">
              <a:alpha val="30000"/>
            </a:srgbClr>
          </a:solidFill>
          <a:ln w="19050">
            <a:solidFill>
              <a:srgbClr val="4CAF8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16368" y="121615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Dense(1)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7516368" y="149047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activation=sigmoid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7516368" y="1709928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이상 확률 0~1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" y="2194560"/>
            <a:ext cx="4114800" cy="96012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컴파일 설정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411480" y="252374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11480" y="269290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optimizer = Adam(learning_rate=3e-4),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11480" y="2862072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loss = 'binary_crossentropy'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411480" y="3031236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4572000" y="2194560"/>
            <a:ext cx="4251960" cy="96012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22402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설정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709160" y="2523744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 = EarlyStopping(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709160" y="2692908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monitor='val_loss', patience=8,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4709160" y="2862072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restore_best_weights=True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709160" y="3031236"/>
            <a:ext cx="3977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274320" y="3291840"/>
            <a:ext cx="8549640" cy="157276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1148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윈도우 라벨링 전략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11480" y="365760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(window_end_severity == '위험').astype(int)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11480" y="393192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윈도우 끝 시각 기준으로 severity 추출 → 이진 라벨(0/1) 변환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420624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정상 데이터로만 MinMaxScaler 피팅 → 이상치가 스케일 범위 왜곡하지 않음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448056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split_by_time(): 시간 순 분할로 미래 데이터 학습 방지 (train 60% / val 20% / test 20%)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DB 서버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v2x_realtime_server.py — tick_once() 처리 흐름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457200" cy="457200"/>
          </a:xfrm>
          <a:prstGeom prst="rect">
            <a:avLst/>
          </a:prstGeom>
          <a:solidFill>
            <a:srgbClr val="4ECDC4">
              <a:alpha val="4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21615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교차로 랜덤 선택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144475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ICN-01 / ICN-02 / ICN-03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709928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709928"/>
            <a:ext cx="457200" cy="457200"/>
          </a:xfrm>
          <a:prstGeom prst="rect">
            <a:avLst/>
          </a:prstGeom>
          <a:solidFill>
            <a:srgbClr val="4ECDC4">
              <a:alpha val="40000"/>
            </a:srgbClr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709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173736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센서 데이터 생성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sensor_collector.generate_sensor_data()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" y="2231136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" y="2231136"/>
            <a:ext cx="457200" cy="457200"/>
          </a:xfrm>
          <a:prstGeom prst="rect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231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2258568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signal_controller_log INSERT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68680" y="2487168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controller_log_id 반환 (RETURNING)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752344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2752344"/>
            <a:ext cx="457200" cy="457200"/>
          </a:xfrm>
          <a:prstGeom prst="rect">
            <a:avLst/>
          </a:prstGeom>
          <a:solidFill>
            <a:srgbClr val="F5C842">
              <a:alpha val="4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27523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68680" y="2779776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v2x_communication_log INSERT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68680" y="3008376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communication_log_id 반환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3273552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" y="3273552"/>
            <a:ext cx="457200" cy="457200"/>
          </a:xfrm>
          <a:prstGeom prst="rect">
            <a:avLst/>
          </a:prstGeom>
          <a:solidFill>
            <a:srgbClr val="E86C45">
              <a:alpha val="40000"/>
            </a:srgbClr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0040" y="3273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⑤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330098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버퍼 갱신 + 추론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68680" y="3529584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deque(maxlen=17) → WINDOW_SIZE 충족 시 score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20040" y="3794760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0040" y="3794760"/>
            <a:ext cx="457200" cy="457200"/>
          </a:xfrm>
          <a:prstGeom prst="rect">
            <a:avLst/>
          </a:prstGeom>
          <a:solidFill>
            <a:srgbClr val="E86C45">
              <a:alpha val="40000"/>
            </a:srgbClr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" y="3794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⑥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3822192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계산 + risk INSERT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68680" y="4050792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heuristic + LSTM 혼합 → risk_analysis_result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20040" y="4315968"/>
            <a:ext cx="5669280" cy="45720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0040" y="4315968"/>
            <a:ext cx="457200" cy="457200"/>
          </a:xfrm>
          <a:prstGeom prst="rect">
            <a:avLst/>
          </a:prstGeom>
          <a:solidFill>
            <a:srgbClr val="4CAF82">
              <a:alpha val="40000"/>
            </a:srgbClr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20040" y="4315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⑦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68680" y="4343400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conn.commit()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68680" y="4572000"/>
            <a:ext cx="4983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A8B2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단일 트랜잭션 완료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6217920" y="1188720"/>
            <a:ext cx="260604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27648" y="12344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--no-reset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6327648" y="15087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기동 시 DB TRUNCATE 생략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6327648" y="17099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기존 데이터에 이어서 적재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17920" y="2103120"/>
            <a:ext cx="260604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27648" y="21488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오류 처리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327648" y="24231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conn.rollback() 후 루프 계속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6327648" y="26243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오류로 서버 죽지 않음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217920" y="3017520"/>
            <a:ext cx="260604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27648" y="30632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신호 처리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27648" y="33375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SIGINT/SIGTERM 핸들러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6327648" y="35387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Ctrl+C → 안전 종료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217920" y="3931920"/>
            <a:ext cx="2606040" cy="77724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27648" y="397764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환경변수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27648" y="42519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DATABASE_URL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6327648" y="445312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TICK_SEC (기본 3초)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위험도 계산 공식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heuristic_risk_scores() + LstmAnomalyEngine.score_window() 혼합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5943600" cy="102412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88720"/>
            <a:ext cx="54864" cy="1024128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6187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제어기 위험도 (ctrl)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1536192"/>
            <a:ext cx="5760720" cy="256032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54480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ctrl = (cpu − 38) × 1.1 + error × 1.8 + max(0, resp − 45) × 0.12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359152"/>
            <a:ext cx="5943600" cy="102412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359152"/>
            <a:ext cx="54864" cy="102412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3230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C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 통신 위험도 (vx)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2706624"/>
            <a:ext cx="5760720" cy="256032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2724912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vx = latency × 0.42 + comm_fail × 1.5 + spat_fail × 0.35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529584"/>
            <a:ext cx="5943600" cy="1024128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529584"/>
            <a:ext cx="54864" cy="1024128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360273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CAF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총 위험도 (total)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11480" y="3877056"/>
            <a:ext cx="5760720" cy="384048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389534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 = (ctrl + vx) / 2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02920" y="4078224"/>
            <a:ext cx="5577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base × 0.65 + lstm_score × 100 × 0.35</a:t>
            </a:r>
            <a:endParaRPr lang="en-US" sz="9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188720"/>
          <a:ext cx="2377440" cy="210312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범위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 등급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CA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0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CA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정상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A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~ 44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F5C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 ~ 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경고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6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E8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68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55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위험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0A0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데이터 흐름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생성 → LSTM 학습 → 실시간 서버 → DB → 백엔드 → 프론트엔드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43000"/>
            <a:ext cx="17373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2344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generate_sensor_data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47472" y="14904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_train.py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47472" y="173736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sensor_train.csv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47472" y="1920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10,000행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048256" y="15361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03120" y="11430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103120" y="1143000"/>
            <a:ext cx="17373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76272" y="12344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generate_sensor_data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176272" y="14904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_test.py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176272" y="173736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sensor_test.csv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76272" y="1920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5,000행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77056" y="1536192"/>
            <a:ext cx="201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31920" y="11430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931920" y="1143000"/>
            <a:ext cx="173736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005072" y="12344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anomaly_detect.py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005072" y="173736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학습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005072" y="1920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임계값 튜닝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63640" y="11430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1143000"/>
            <a:ext cx="173736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36792" y="12344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anomaly_model.pkl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336792" y="14904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.keras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336792" y="173736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스케일러 + 가중치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1920240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저장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74320" y="1051560"/>
            <a:ext cx="1033272" cy="256032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74320" y="105156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데이터 생성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931920" y="1051560"/>
            <a:ext cx="1133856" cy="2560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31920" y="1051560"/>
            <a:ext cx="1133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LSTM 학습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74320" y="2359152"/>
            <a:ext cx="8595360" cy="0"/>
          </a:xfrm>
          <a:prstGeom prst="line">
            <a:avLst/>
          </a:prstGeom>
          <a:noFill/>
          <a:ln w="12700">
            <a:solidFill>
              <a:srgbClr val="2A3550"/>
            </a:solidFill>
            <a:prstDash val="dash"/>
          </a:ln>
        </p:spPr>
      </p:sp>
      <p:sp>
        <p:nvSpPr>
          <p:cNvPr id="36" name="Shape 34"/>
          <p:cNvSpPr/>
          <p:nvPr/>
        </p:nvSpPr>
        <p:spPr>
          <a:xfrm>
            <a:off x="274320" y="25146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74320" y="2514600"/>
            <a:ext cx="1737360" cy="54864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7472" y="26060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v2x_realtime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" y="28620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_server.py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47472" y="312724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틱마다 교차로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47472" y="33101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랜덤 선택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2331720" y="25146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31720" y="2514600"/>
            <a:ext cx="1737360" cy="54864"/>
          </a:xfrm>
          <a:prstGeom prst="rect">
            <a:avLst/>
          </a:prstGeom>
          <a:solidFill>
            <a:srgbClr val="4ECDC4"/>
          </a:solidFill>
          <a:ln w="12700">
            <a:solidFill>
              <a:srgbClr val="4ECDC4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04872" y="26060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PostgreSQL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2404872" y="312724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signal_log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2404872" y="33101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v2x_log / risk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389120" y="25146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389120" y="2514600"/>
            <a:ext cx="1737360" cy="5486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62272" y="26060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Spring Boot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4462272" y="28620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API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4462272" y="312724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JPA / REST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4462272" y="33101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인증·라우팅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446520" y="2514600"/>
            <a:ext cx="1737360" cy="10515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2514600"/>
            <a:ext cx="1737360" cy="54864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519672" y="26060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Vue 3</a:t>
            </a:r>
            <a:endParaRPr lang="en-US" sz="800" dirty="0"/>
          </a:p>
        </p:txBody>
      </p:sp>
      <p:sp>
        <p:nvSpPr>
          <p:cNvPr id="59" name="Text 57"/>
          <p:cNvSpPr/>
          <p:nvPr/>
        </p:nvSpPr>
        <p:spPr>
          <a:xfrm>
            <a:off x="6519672" y="2862072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프론트엔드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6519672" y="312724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50" dirty="0"/>
          </a:p>
        </p:txBody>
      </p:sp>
      <p:sp>
        <p:nvSpPr>
          <p:cNvPr id="61" name="Text 59"/>
          <p:cNvSpPr/>
          <p:nvPr/>
        </p:nvSpPr>
        <p:spPr>
          <a:xfrm>
            <a:off x="6519672" y="3310128"/>
            <a:ext cx="15910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실시간 시각화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2423160"/>
            <a:ext cx="1033272" cy="256032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2423160"/>
            <a:ext cx="1033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실시간 인입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46520" y="2423160"/>
            <a:ext cx="731520" cy="256032"/>
          </a:xfrm>
          <a:prstGeom prst="rect">
            <a:avLst/>
          </a:prstGeom>
          <a:solidFill>
            <a:srgbClr val="4CAF82"/>
          </a:solidFill>
          <a:ln w="12700">
            <a:solidFill>
              <a:srgbClr val="4CAF82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446520" y="242316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시각화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11480" y="376732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모델 파일 없어도 서버 기동 가능 (규칙 기반 폴백)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411480" y="404164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ECD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--no-reset 옵션으로 DB 데이터 유지 후 이어쓰기 지원</a:t>
            </a:r>
            <a:endParaRPr lang="en-US" sz="1000" dirty="0"/>
          </a:p>
        </p:txBody>
      </p:sp>
      <p:sp>
        <p:nvSpPr>
          <p:cNvPr id="68" name="Text 66"/>
          <p:cNvSpPr/>
          <p:nvPr/>
        </p:nvSpPr>
        <p:spPr>
          <a:xfrm>
            <a:off x="411480" y="4315968"/>
            <a:ext cx="83210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TICK_SEC=3 </a:t>
            </a:r>
            <a:r>
              <a:rPr lang="ko-KR" alt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</a:t>
            </a:r>
            <a:r>
              <a:rPr lang="en-US" sz="1000" dirty="0">
                <a:solidFill>
                  <a:srgbClr val="A8B2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(기본) 환경변수로 주기 조정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54864" cy="502920"/>
          </a:xfrm>
          <a:prstGeom prst="rect">
            <a:avLst/>
          </a:prstGeom>
          <a:solidFill>
            <a:srgbClr val="E86C45"/>
          </a:solidFill>
          <a:ln w="12700">
            <a:solidFill>
              <a:srgbClr val="E86C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의존성 &amp; 실행 가이드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  ·  주요 실행 명령어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5303520" cy="2688336"/>
        </p:xfrm>
        <a:graphic>
          <a:graphicData uri="http://schemas.openxmlformats.org/drawingml/2006/table">
            <a:tbl>
              <a:tblPr/>
              <a:tblGrid>
                <a:gridCol w="1508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패키지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버전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용도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A4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배열 연산 · 슬라이딩 윈도우 생성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ECD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pandas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2.0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로드·시간 정렬·그룹화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86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scikit-learn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MinMaxScaler (FEATURE_COLS 정규화)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E86C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joblib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1.3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스케일러 + 임계값 직렬화 (pkl)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F5C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2.15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LSTM 학습 및 실시간 추론 (keras)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4CAF8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psycopg2-binary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7A9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2.9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A8B2C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 연결 (실시간 서버)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5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52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806440" y="1188720"/>
            <a:ext cx="3017520" cy="2926080"/>
          </a:xfrm>
          <a:prstGeom prst="rect">
            <a:avLst/>
          </a:prstGeom>
          <a:solidFill>
            <a:srgbClr val="0A0E1A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1234440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6C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실행 순서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53619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데이터 생성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5897880" y="171541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generate_sensor_data_train.py</a:t>
            </a:r>
            <a:endParaRPr lang="en-US" sz="750" dirty="0"/>
          </a:p>
        </p:txBody>
      </p:sp>
      <p:sp>
        <p:nvSpPr>
          <p:cNvPr id="10" name="Text 7"/>
          <p:cNvSpPr/>
          <p:nvPr/>
        </p:nvSpPr>
        <p:spPr>
          <a:xfrm>
            <a:off x="5897880" y="1894637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ECDC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generate_sensor_data_test.py</a:t>
            </a:r>
            <a:endParaRPr lang="en-US" sz="750" dirty="0"/>
          </a:p>
        </p:txBody>
      </p:sp>
      <p:sp>
        <p:nvSpPr>
          <p:cNvPr id="11" name="Text 8"/>
          <p:cNvSpPr/>
          <p:nvPr/>
        </p:nvSpPr>
        <p:spPr>
          <a:xfrm>
            <a:off x="5897880" y="2073859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897880" y="2253082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LSTM 학습</a:t>
            </a:r>
            <a:endParaRPr lang="en-US" sz="750" dirty="0"/>
          </a:p>
        </p:txBody>
      </p:sp>
      <p:sp>
        <p:nvSpPr>
          <p:cNvPr id="5" name="Text 10"/>
          <p:cNvSpPr/>
          <p:nvPr/>
        </p:nvSpPr>
        <p:spPr>
          <a:xfrm>
            <a:off x="5897880" y="243230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5C8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anomaly_detect.py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5897880" y="2611526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 dirty="0"/>
          </a:p>
        </p:txBody>
      </p:sp>
      <p:sp>
        <p:nvSpPr>
          <p:cNvPr id="15" name="Text 12"/>
          <p:cNvSpPr/>
          <p:nvPr/>
        </p:nvSpPr>
        <p:spPr>
          <a:xfrm>
            <a:off x="5897880" y="2790749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실시간 서버 기동</a:t>
            </a:r>
            <a:endParaRPr lang="en-US" sz="750" dirty="0"/>
          </a:p>
        </p:txBody>
      </p:sp>
      <p:sp>
        <p:nvSpPr>
          <p:cNvPr id="16" name="Text 13"/>
          <p:cNvSpPr/>
          <p:nvPr/>
        </p:nvSpPr>
        <p:spPr>
          <a:xfrm>
            <a:off x="5897880" y="2969971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v2x_realtime_server.py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5897880" y="3149194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A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또는 데이터 유지</a:t>
            </a:r>
            <a:endParaRPr lang="en-US" sz="750" dirty="0"/>
          </a:p>
        </p:txBody>
      </p:sp>
      <p:sp>
        <p:nvSpPr>
          <p:cNvPr id="18" name="Text 15"/>
          <p:cNvSpPr/>
          <p:nvPr/>
        </p:nvSpPr>
        <p:spPr>
          <a:xfrm>
            <a:off x="5897880" y="3328416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v2x_realtime_server.py \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5897880" y="3507638"/>
            <a:ext cx="2816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E86C4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--no-reset --tick 1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320040" y="4224528"/>
            <a:ext cx="8503920" cy="594360"/>
          </a:xfrm>
          <a:prstGeom prst="rect">
            <a:avLst/>
          </a:prstGeom>
          <a:solidFill>
            <a:srgbClr val="1A2035"/>
          </a:solidFill>
          <a:ln w="12700">
            <a:solidFill>
              <a:srgbClr val="2A355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2793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CAF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-r requirements.txt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02920" y="4507992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GPU 환경: tensorflow → tensorflow[and-cuda]  또는  tensorflow-gpu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1454</Words>
  <Application>Microsoft Office PowerPoint</Application>
  <PresentationFormat>화면 슬라이드 쇼(16:9)</PresentationFormat>
  <Paragraphs>303</Paragraphs>
  <Slides>9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V2X PDM Python 코드 리뷰</dc:title>
  <dc:subject>PptxGenJS Presentation</dc:subject>
  <dc:creator>PptxGenJS</dc:creator>
  <cp:lastModifiedBy>mbc</cp:lastModifiedBy>
  <cp:revision>3</cp:revision>
  <dcterms:created xsi:type="dcterms:W3CDTF">2026-04-22T02:15:10Z</dcterms:created>
  <dcterms:modified xsi:type="dcterms:W3CDTF">2026-04-22T02:36:08Z</dcterms:modified>
</cp:coreProperties>
</file>